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58" r:id="rId4"/>
    <p:sldId id="272" r:id="rId5"/>
    <p:sldId id="273" r:id="rId6"/>
    <p:sldId id="277" r:id="rId7"/>
    <p:sldId id="278" r:id="rId8"/>
    <p:sldId id="279" r:id="rId9"/>
    <p:sldId id="280" r:id="rId10"/>
    <p:sldId id="27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71" userDrawn="1">
          <p15:clr>
            <a:srgbClr val="A4A3A4"/>
          </p15:clr>
        </p15:guide>
        <p15:guide id="2" pos="1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BD80"/>
    <a:srgbClr val="15A681"/>
    <a:srgbClr val="DDFBF0"/>
    <a:srgbClr val="14867E"/>
    <a:srgbClr val="154E79"/>
    <a:srgbClr val="15B682"/>
    <a:srgbClr val="F8FEFC"/>
    <a:srgbClr val="168480"/>
    <a:srgbClr val="1C67A0"/>
    <a:srgbClr val="268D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225" y="54"/>
      </p:cViewPr>
      <p:guideLst>
        <p:guide orient="horz" pos="3271"/>
        <p:guide pos="16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83843-A115-4045-A924-70B770BCB2B2}" type="datetimeFigureOut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AE319-8231-46A1-960B-5493A3C484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14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CE87-F668-4024-A18E-74D2E9B7D859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80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8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11477409" y="6257028"/>
            <a:ext cx="468000" cy="468000"/>
          </a:xfrm>
          <a:prstGeom prst="ellipse">
            <a:avLst/>
          </a:prstGeom>
          <a:solidFill>
            <a:srgbClr val="15A6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1477409" y="6166538"/>
            <a:ext cx="468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EFCBF77D-F46E-4259-B383-244069B4E4DB}" type="slidenum">
              <a:rPr lang="zh-CN" altLang="en-US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pPr algn="ctr"/>
              <a:t>‹#›</a:t>
            </a:fld>
            <a:endParaRPr lang="zh-CN" altLang="en-US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731838" y="473777"/>
            <a:ext cx="6808927" cy="470648"/>
          </a:xfrm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2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单击此处编辑母版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449" y="111827"/>
            <a:ext cx="19050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659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6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rgbClr val="F8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37767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40D3-2614-4C34-BE6A-CA423B737A0F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626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B39B-E44F-45B8-8E4A-40947C7A93C4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76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3B0A1-62FF-4526-8ADF-6019D3E297A4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102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C5F26-45F9-4CE5-86CD-7D412DF0B675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27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7670-4D30-405C-A7CA-02BF47F92CC2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476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F4FC-224F-4767-959D-22199600939D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51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B0808-FAD8-46DD-AEEE-EF10F835BD1E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40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4354B-71BB-4965-923A-84193AB33261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578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99B8-F3A2-4E8D-83C8-560E86483421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867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EBA2A-5324-4115-A751-E78BFE49E695}" type="datetime1">
              <a:rPr lang="zh-CN" altLang="en-US" smtClean="0"/>
              <a:pPr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F21AF-7794-4FEA-8880-A4F9A69B1C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07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237069"/>
            <a:ext cx="12192000" cy="3060000"/>
          </a:xfrm>
          <a:prstGeom prst="rect">
            <a:avLst/>
          </a:prstGeom>
          <a:solidFill>
            <a:srgbClr val="154E7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1" y="2424498"/>
            <a:ext cx="12192000" cy="2685142"/>
          </a:xfrm>
          <a:prstGeom prst="rect">
            <a:avLst/>
          </a:prstGeom>
          <a:solidFill>
            <a:srgbClr val="15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61704" y="3040497"/>
            <a:ext cx="8668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>
                    <a:lumMod val="85000"/>
                  </a:schemeClr>
                </a:solidFill>
                <a:latin typeface="阿里妈妈数黑体" pitchFamily="2" charset="-122"/>
                <a:ea typeface="阿里妈妈数黑体" pitchFamily="2" charset="-122"/>
                <a:cs typeface="演示流云楷" panose="02000600000000000000" pitchFamily="2" charset="-122"/>
              </a:rPr>
              <a:t>操作系统专题实践课程汇报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F21AF-7794-4FEA-8880-A4F9A69B1C15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6" name="文本占位符 1"/>
          <p:cNvSpPr txBox="1">
            <a:spLocks/>
          </p:cNvSpPr>
          <p:nvPr/>
        </p:nvSpPr>
        <p:spPr>
          <a:xfrm>
            <a:off x="2691535" y="4202901"/>
            <a:ext cx="6808927" cy="470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阿里妈妈数黑体" pitchFamily="2" charset="-122"/>
                <a:ea typeface="阿里妈妈数黑体" pitchFamily="2" charset="-122"/>
              </a:rPr>
              <a:t>71123329   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阿里妈妈数黑体" pitchFamily="2" charset="-122"/>
                <a:ea typeface="阿里妈妈数黑体" pitchFamily="2" charset="-122"/>
              </a:rPr>
              <a:t>段嘉文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41" y="106519"/>
            <a:ext cx="2644820" cy="86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1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899369" y="-2177965"/>
            <a:ext cx="4387685" cy="4387685"/>
            <a:chOff x="4775428" y="-1305086"/>
            <a:chExt cx="2610171" cy="2610171"/>
          </a:xfrm>
        </p:grpSpPr>
        <p:sp>
          <p:nvSpPr>
            <p:cNvPr id="2" name="椭圆 1"/>
            <p:cNvSpPr/>
            <p:nvPr/>
          </p:nvSpPr>
          <p:spPr>
            <a:xfrm>
              <a:off x="4775428" y="-1305086"/>
              <a:ext cx="2610171" cy="2610171"/>
            </a:xfrm>
            <a:prstGeom prst="ellipse">
              <a:avLst/>
            </a:prstGeom>
            <a:solidFill>
              <a:srgbClr val="15BD8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椭圆 2"/>
            <p:cNvSpPr/>
            <p:nvPr/>
          </p:nvSpPr>
          <p:spPr>
            <a:xfrm>
              <a:off x="4992942" y="-1087572"/>
              <a:ext cx="2175143" cy="2175143"/>
            </a:xfrm>
            <a:prstGeom prst="ellipse">
              <a:avLst/>
            </a:prstGeom>
            <a:solidFill>
              <a:srgbClr val="15BD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占位符 1"/>
          <p:cNvSpPr txBox="1">
            <a:spLocks/>
          </p:cNvSpPr>
          <p:nvPr/>
        </p:nvSpPr>
        <p:spPr>
          <a:xfrm>
            <a:off x="4885120" y="304439"/>
            <a:ext cx="2416181" cy="907164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3600" dirty="0">
                <a:solidFill>
                  <a:schemeClr val="bg1"/>
                </a:solidFill>
                <a:latin typeface="阿里妈妈数黑体" pitchFamily="2" charset="-122"/>
                <a:ea typeface="阿里妈妈数黑体" pitchFamily="2" charset="-122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3393" y="5075852"/>
            <a:ext cx="2627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阿里妈妈数黑体" pitchFamily="2" charset="-122"/>
                <a:ea typeface="阿里妈妈数黑体" pitchFamily="2" charset="-122"/>
              </a:rPr>
              <a:t>实验概述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30479" y="5075852"/>
            <a:ext cx="2979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阿里妈妈数黑体" pitchFamily="2" charset="-122"/>
                <a:ea typeface="阿里妈妈数黑体" pitchFamily="2" charset="-122"/>
              </a:rPr>
              <a:t>Linux </a:t>
            </a:r>
            <a:r>
              <a:rPr lang="zh-CN" altLang="en-US" sz="2400" dirty="0">
                <a:latin typeface="阿里妈妈数黑体" pitchFamily="2" charset="-122"/>
                <a:ea typeface="阿里妈妈数黑体" pitchFamily="2" charset="-122"/>
              </a:rPr>
              <a:t>进程管理扩展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169259" y="5075852"/>
            <a:ext cx="2862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阿里妈妈数黑体" pitchFamily="2" charset="-122"/>
                <a:ea typeface="阿里妈妈数黑体" pitchFamily="2" charset="-122"/>
              </a:rPr>
              <a:t>Shell </a:t>
            </a:r>
            <a:r>
              <a:rPr lang="zh-CN" altLang="en-US" sz="2400" dirty="0">
                <a:latin typeface="阿里妈妈数黑体" pitchFamily="2" charset="-122"/>
                <a:ea typeface="阿里妈妈数黑体" pitchFamily="2" charset="-122"/>
              </a:rPr>
              <a:t>命令行解释器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090414" y="5075852"/>
            <a:ext cx="2627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阿里妈妈数黑体" pitchFamily="2" charset="-122"/>
                <a:ea typeface="阿里妈妈数黑体" pitchFamily="2" charset="-122"/>
              </a:rPr>
              <a:t>实验总结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845791" y="3318562"/>
            <a:ext cx="1391650" cy="1391650"/>
            <a:chOff x="731838" y="2245058"/>
            <a:chExt cx="720000" cy="720000"/>
          </a:xfrm>
        </p:grpSpPr>
        <p:sp>
          <p:nvSpPr>
            <p:cNvPr id="11" name="椭圆 10"/>
            <p:cNvSpPr/>
            <p:nvPr/>
          </p:nvSpPr>
          <p:spPr>
            <a:xfrm>
              <a:off x="731838" y="2245058"/>
              <a:ext cx="720000" cy="720000"/>
            </a:xfrm>
            <a:prstGeom prst="ellipse">
              <a:avLst/>
            </a:prstGeom>
            <a:solidFill>
              <a:srgbClr val="15BD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302" y="2387522"/>
              <a:ext cx="435072" cy="435072"/>
            </a:xfrm>
            <a:prstGeom prst="rect">
              <a:avLst/>
            </a:prstGeom>
          </p:spPr>
        </p:pic>
      </p:grpSp>
      <p:grpSp>
        <p:nvGrpSpPr>
          <p:cNvPr id="30" name="组合 29"/>
          <p:cNvGrpSpPr/>
          <p:nvPr/>
        </p:nvGrpSpPr>
        <p:grpSpPr>
          <a:xfrm>
            <a:off x="1121111" y="3318562"/>
            <a:ext cx="1391650" cy="1391650"/>
            <a:chOff x="1046467" y="3169275"/>
            <a:chExt cx="1540937" cy="1540937"/>
          </a:xfrm>
        </p:grpSpPr>
        <p:sp>
          <p:nvSpPr>
            <p:cNvPr id="17" name="椭圆 16"/>
            <p:cNvSpPr/>
            <p:nvPr/>
          </p:nvSpPr>
          <p:spPr>
            <a:xfrm>
              <a:off x="1046467" y="3169275"/>
              <a:ext cx="1540937" cy="1540937"/>
            </a:xfrm>
            <a:prstGeom prst="ellipse">
              <a:avLst/>
            </a:prstGeom>
            <a:solidFill>
              <a:srgbClr val="15BD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0735" y="3472912"/>
              <a:ext cx="932400" cy="932400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/>
        </p:nvGrpSpPr>
        <p:grpSpPr>
          <a:xfrm>
            <a:off x="3983451" y="3318562"/>
            <a:ext cx="1391650" cy="1391650"/>
            <a:chOff x="3927939" y="3169275"/>
            <a:chExt cx="1540937" cy="1540937"/>
          </a:xfrm>
        </p:grpSpPr>
        <p:sp>
          <p:nvSpPr>
            <p:cNvPr id="14" name="椭圆 13"/>
            <p:cNvSpPr/>
            <p:nvPr/>
          </p:nvSpPr>
          <p:spPr>
            <a:xfrm>
              <a:off x="3927939" y="3169275"/>
              <a:ext cx="1540937" cy="1540937"/>
            </a:xfrm>
            <a:prstGeom prst="ellipse">
              <a:avLst/>
            </a:prstGeom>
            <a:solidFill>
              <a:srgbClr val="15BD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2207" y="3472912"/>
              <a:ext cx="932400" cy="932400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9708132" y="3318562"/>
            <a:ext cx="1391650" cy="1391650"/>
            <a:chOff x="9690883" y="3169275"/>
            <a:chExt cx="1540937" cy="1540937"/>
          </a:xfrm>
        </p:grpSpPr>
        <p:sp>
          <p:nvSpPr>
            <p:cNvPr id="20" name="椭圆 19"/>
            <p:cNvSpPr/>
            <p:nvPr/>
          </p:nvSpPr>
          <p:spPr>
            <a:xfrm>
              <a:off x="9690883" y="3169275"/>
              <a:ext cx="1540937" cy="1540937"/>
            </a:xfrm>
            <a:prstGeom prst="ellipse">
              <a:avLst/>
            </a:prstGeom>
            <a:solidFill>
              <a:srgbClr val="15BD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5151" y="3472912"/>
              <a:ext cx="932400" cy="93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0671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31839" y="473777"/>
            <a:ext cx="1706562" cy="470648"/>
          </a:xfrm>
        </p:spPr>
        <p:txBody>
          <a:bodyPr/>
          <a:lstStyle/>
          <a:p>
            <a:r>
              <a:rPr lang="zh-CN" altLang="en-US" sz="2800" dirty="0">
                <a:latin typeface="阿里妈妈数黑体" pitchFamily="2" charset="-122"/>
                <a:ea typeface="阿里妈妈数黑体" pitchFamily="2" charset="-122"/>
              </a:rPr>
              <a:t>实验概述</a:t>
            </a:r>
          </a:p>
        </p:txBody>
      </p:sp>
      <p:sp>
        <p:nvSpPr>
          <p:cNvPr id="9" name="矩形 8"/>
          <p:cNvSpPr/>
          <p:nvPr/>
        </p:nvSpPr>
        <p:spPr>
          <a:xfrm>
            <a:off x="1032667" y="1624106"/>
            <a:ext cx="10400208" cy="4198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核心目标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深入理解操作系统内核态与用户态的核心机制。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通过实践掌握系统调用、进程管理、进程间通信等关键技术。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项目范围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实验一：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进程管理扩展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：在内核中添加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系统调用，实现安全、可控的进程隐藏功能。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实验二：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Shell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命令行解释器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：从零实现支持管道、重定向和内置命令的完整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技术路线图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内核开发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Linux 5.13.10)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用户态编程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POSIX API)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功能测试与验证</a:t>
            </a:r>
          </a:p>
        </p:txBody>
      </p:sp>
      <p:sp>
        <p:nvSpPr>
          <p:cNvPr id="13" name="矩形 12"/>
          <p:cNvSpPr/>
          <p:nvPr/>
        </p:nvSpPr>
        <p:spPr>
          <a:xfrm>
            <a:off x="834614" y="1035501"/>
            <a:ext cx="54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01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E353-E752-0547-A32A-3A7ACC779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BD13C5B-F234-4DD1-EA84-553EC795CC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9" y="473777"/>
            <a:ext cx="1706562" cy="470648"/>
          </a:xfrm>
        </p:spPr>
        <p:txBody>
          <a:bodyPr/>
          <a:lstStyle/>
          <a:p>
            <a:r>
              <a:rPr lang="zh-CN" altLang="en-US" sz="2800" dirty="0">
                <a:latin typeface="阿里妈妈数黑体" pitchFamily="2" charset="-122"/>
                <a:ea typeface="阿里妈妈数黑体" pitchFamily="2" charset="-122"/>
              </a:rPr>
              <a:t>实验概述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B7930C-D93F-4F65-10E9-FB5913CB9ADE}"/>
              </a:ext>
            </a:extLst>
          </p:cNvPr>
          <p:cNvSpPr/>
          <p:nvPr/>
        </p:nvSpPr>
        <p:spPr>
          <a:xfrm>
            <a:off x="333553" y="1099339"/>
            <a:ext cx="6096001" cy="5444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设计理念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：将复杂功能分解为独立模块，如进程隐藏、命令解析、管道处理。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：内核修改采用非侵入式设计；权限控制严格。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可观测性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：提供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/proc/hide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/proc/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hidden_process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等接口进行运行时监控。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主要挑战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内核开发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：编译配置复杂、调试困难、需避免破坏内核数据结构。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Shell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：精确处理管道与重定向的组合、内置命令的特殊性、内存管理。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跨层协作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：理解内核态与用户态的交互边界与数据传递方式。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AAB91D-F655-5639-E856-9570D2302BB3}"/>
              </a:ext>
            </a:extLst>
          </p:cNvPr>
          <p:cNvSpPr/>
          <p:nvPr/>
        </p:nvSpPr>
        <p:spPr>
          <a:xfrm>
            <a:off x="834614" y="1035501"/>
            <a:ext cx="54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AC2DE762-A874-4775-C0AA-D459B9ECC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310" y="1623485"/>
            <a:ext cx="4812959" cy="43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4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DF9E-92AF-8418-E044-37B262CF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C56ED0-3CD6-3635-1F6F-8318DC69D8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473777"/>
            <a:ext cx="3374335" cy="470648"/>
          </a:xfrm>
        </p:spPr>
        <p:txBody>
          <a:bodyPr/>
          <a:lstStyle/>
          <a:p>
            <a:pPr algn="ctr"/>
            <a:r>
              <a:rPr lang="en-US" altLang="zh-CN" dirty="0">
                <a:latin typeface="阿里妈妈数黑体" pitchFamily="2" charset="-122"/>
                <a:ea typeface="阿里妈妈数黑体" pitchFamily="2" charset="-122"/>
              </a:rPr>
              <a:t>Linux </a:t>
            </a:r>
            <a:r>
              <a:rPr lang="zh-CN" altLang="en-US" dirty="0">
                <a:latin typeface="阿里妈妈数黑体" pitchFamily="2" charset="-122"/>
                <a:ea typeface="阿里妈妈数黑体" pitchFamily="2" charset="-122"/>
              </a:rPr>
              <a:t>进程管理扩展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4FC0C2-2531-0B50-FB5D-1D56766D2FA0}"/>
              </a:ext>
            </a:extLst>
          </p:cNvPr>
          <p:cNvSpPr/>
          <p:nvPr/>
        </p:nvSpPr>
        <p:spPr>
          <a:xfrm>
            <a:off x="654136" y="1588106"/>
            <a:ext cx="6096001" cy="4198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：如何安全、可逆地隐藏指定进程？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创新方案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非侵入式标志位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全局开关过滤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task_struct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中新增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cloak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字段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1=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/proc/hide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控制全局开关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hidden_flag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proc_pid_readdir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proc_pid_lookup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中插入过滤逻辑。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关键优势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：不修改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链表，避免内核崩溃。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：清除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cloak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标志即可恢复。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：动态启停，实时生效。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EDA377-77F7-D344-498D-5EF29432E756}"/>
              </a:ext>
            </a:extLst>
          </p:cNvPr>
          <p:cNvSpPr/>
          <p:nvPr/>
        </p:nvSpPr>
        <p:spPr>
          <a:xfrm>
            <a:off x="834614" y="1035501"/>
            <a:ext cx="54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C39976-D5FD-C483-362D-DF5C90601D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893" y="2194412"/>
            <a:ext cx="3668133" cy="39562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9A1D19-9BDF-A4BC-80E9-B3F3001C3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893" y="1049269"/>
            <a:ext cx="3668133" cy="88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6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8D0B-35C6-320B-F269-FF324414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AB22C08-4C6E-AE36-A30C-3592875DAB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473777"/>
            <a:ext cx="3374335" cy="470648"/>
          </a:xfrm>
        </p:spPr>
        <p:txBody>
          <a:bodyPr/>
          <a:lstStyle/>
          <a:p>
            <a:pPr algn="ctr"/>
            <a:r>
              <a:rPr lang="en-US" altLang="zh-CN" dirty="0">
                <a:latin typeface="阿里妈妈数黑体" pitchFamily="2" charset="-122"/>
                <a:ea typeface="阿里妈妈数黑体" pitchFamily="2" charset="-122"/>
              </a:rPr>
              <a:t>Linux </a:t>
            </a:r>
            <a:r>
              <a:rPr lang="zh-CN" altLang="en-US" dirty="0">
                <a:latin typeface="阿里妈妈数黑体" pitchFamily="2" charset="-122"/>
                <a:ea typeface="阿里妈妈数黑体" pitchFamily="2" charset="-122"/>
              </a:rPr>
              <a:t>进程管理扩展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524D1B-361F-6512-E54A-2820919B069F}"/>
              </a:ext>
            </a:extLst>
          </p:cNvPr>
          <p:cNvSpPr/>
          <p:nvPr/>
        </p:nvSpPr>
        <p:spPr>
          <a:xfrm>
            <a:off x="304798" y="1194693"/>
            <a:ext cx="6096001" cy="5029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系统调用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sys_hide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pid_t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int on)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：单进程隐藏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恢复。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sys_hide_user_processes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uid_t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uid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char 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binname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int recover)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UID/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进程名批量操作。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运行时接口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/proc/hide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：读写全局开关。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/proc/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hidden_process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：查询当前所有被隐藏的进程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验证结果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aux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后，被标记进程消失。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关闭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/proc/hide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开关后，进程自动恢复可见。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dmesg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查看内核日志，确认系统调用成功执行。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D628FC-F79C-9383-D619-E4CDD5D88377}"/>
              </a:ext>
            </a:extLst>
          </p:cNvPr>
          <p:cNvSpPr/>
          <p:nvPr/>
        </p:nvSpPr>
        <p:spPr>
          <a:xfrm>
            <a:off x="834614" y="1035501"/>
            <a:ext cx="54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B1D3138-015D-1226-9CFA-4B4188BC96EE}"/>
              </a:ext>
            </a:extLst>
          </p:cNvPr>
          <p:cNvGrpSpPr/>
          <p:nvPr/>
        </p:nvGrpSpPr>
        <p:grpSpPr>
          <a:xfrm>
            <a:off x="6694099" y="1395089"/>
            <a:ext cx="5193103" cy="4755977"/>
            <a:chOff x="6642335" y="1354833"/>
            <a:chExt cx="5193103" cy="475597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FD7AB22-46AD-EFC9-C4D2-13DFD6B3D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335" y="3626815"/>
              <a:ext cx="5193102" cy="2483995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1EF830A-1176-5D12-4218-D69790112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335" y="1354833"/>
              <a:ext cx="5193103" cy="22719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076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E20A6-0D9D-5C45-9B95-9DC6A5A7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1760484-A46C-ED0F-4C4A-BC2E2A14D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473777"/>
            <a:ext cx="3374335" cy="470648"/>
          </a:xfrm>
        </p:spPr>
        <p:txBody>
          <a:bodyPr/>
          <a:lstStyle/>
          <a:p>
            <a:pPr algn="ctr"/>
            <a:r>
              <a:rPr lang="en-US" altLang="zh-CN" dirty="0">
                <a:latin typeface="阿里妈妈数黑体" pitchFamily="2" charset="-122"/>
                <a:ea typeface="阿里妈妈数黑体" pitchFamily="2" charset="-122"/>
              </a:rPr>
              <a:t>Shell </a:t>
            </a:r>
            <a:r>
              <a:rPr lang="zh-CN" altLang="en-US" dirty="0">
                <a:latin typeface="阿里妈妈数黑体" pitchFamily="2" charset="-122"/>
                <a:ea typeface="阿里妈妈数黑体" pitchFamily="2" charset="-122"/>
              </a:rPr>
              <a:t>命令行解释器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E9C865-A067-BEB7-AD94-9A8C9EFA727F}"/>
              </a:ext>
            </a:extLst>
          </p:cNvPr>
          <p:cNvSpPr/>
          <p:nvPr/>
        </p:nvSpPr>
        <p:spPr>
          <a:xfrm>
            <a:off x="610866" y="1412342"/>
            <a:ext cx="6096001" cy="4615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核心架构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：“读取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执行” 三阶段循环。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核心数据结构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：管理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、当前工作目录。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Process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：封装单个进程的参数、路径、重定向信息。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RedirectionType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：枚举类型，简化重定向逻辑。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关键功能实现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内置命令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(cd, exit, path)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：由主进程直接执行。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外部命令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：通过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fork()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execv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创建子进程执行。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(|)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：创建匿名管道，连接多个子进程的标准输入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重定向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(&lt;, &gt;, &gt;&gt;)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：使用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dup2()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修改文件描述符。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9F7C0A-2143-F522-1F18-0562DF385ADD}"/>
              </a:ext>
            </a:extLst>
          </p:cNvPr>
          <p:cNvSpPr/>
          <p:nvPr/>
        </p:nvSpPr>
        <p:spPr>
          <a:xfrm>
            <a:off x="834614" y="1035501"/>
            <a:ext cx="54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6A81EA29-660E-6B57-96E4-0F218CBB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886" y="516767"/>
            <a:ext cx="3374335" cy="608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98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7C72-FC63-6A49-A22F-C6A2DD94B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D2EE159-DBA8-6311-7BCB-3AD181F1CD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473777"/>
            <a:ext cx="3374335" cy="470648"/>
          </a:xfrm>
        </p:spPr>
        <p:txBody>
          <a:bodyPr/>
          <a:lstStyle/>
          <a:p>
            <a:pPr algn="ctr"/>
            <a:r>
              <a:rPr lang="en-US" altLang="zh-CN" dirty="0">
                <a:latin typeface="阿里妈妈数黑体" pitchFamily="2" charset="-122"/>
                <a:ea typeface="阿里妈妈数黑体" pitchFamily="2" charset="-122"/>
              </a:rPr>
              <a:t>Shell </a:t>
            </a:r>
            <a:r>
              <a:rPr lang="zh-CN" altLang="en-US" dirty="0">
                <a:latin typeface="阿里妈妈数黑体" pitchFamily="2" charset="-122"/>
                <a:ea typeface="阿里妈妈数黑体" pitchFamily="2" charset="-122"/>
              </a:rPr>
              <a:t>命令行解释器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EBA1B8-3611-1F93-A261-3B880F809303}"/>
              </a:ext>
            </a:extLst>
          </p:cNvPr>
          <p:cNvSpPr/>
          <p:nvPr/>
        </p:nvSpPr>
        <p:spPr>
          <a:xfrm>
            <a:off x="320645" y="1155044"/>
            <a:ext cx="6676848" cy="5444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技术难点与解决方案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管道链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个命令创建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个管道，父进程需正确关闭所有文件描述符。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重定向组合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：先设置管道，再设置重定向，确保优先级正确。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内存管理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：对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malloc/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strdup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等操作进行严格检查，并在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cleanup_process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中释放。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全面测试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基本命令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ls, echo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内置命令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切换目录，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修改搜索路径。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重定向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：覆盖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(&gt;)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、追加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(&gt;&gt;)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(&lt;)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：单级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(ls | grep)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与多级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(ls | grep |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组合功能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 | grep txt &gt; result.txt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批处理模式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：从脚本文件顺序执行命令。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2B8BAB-86A6-2855-BBD4-E6C7443AEDAE}"/>
              </a:ext>
            </a:extLst>
          </p:cNvPr>
          <p:cNvSpPr/>
          <p:nvPr/>
        </p:nvSpPr>
        <p:spPr>
          <a:xfrm>
            <a:off x="834614" y="1035501"/>
            <a:ext cx="54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B82C566-1731-BE17-9558-FC950A5B40BA}"/>
              </a:ext>
            </a:extLst>
          </p:cNvPr>
          <p:cNvGrpSpPr/>
          <p:nvPr/>
        </p:nvGrpSpPr>
        <p:grpSpPr>
          <a:xfrm>
            <a:off x="6947140" y="980425"/>
            <a:ext cx="4451229" cy="5619507"/>
            <a:chOff x="7335419" y="944425"/>
            <a:chExt cx="4218226" cy="538782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9F3BF62-FCE7-A96F-B57B-1EDA8ACE6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5419" y="3629253"/>
              <a:ext cx="4218226" cy="2702994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760C1A4-E90B-C988-1804-CE2C74A27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5420" y="944425"/>
              <a:ext cx="4218225" cy="26848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651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3F328-EB55-020F-C197-307E2B08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D188072-510F-366B-C434-7529B398F7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9" y="473777"/>
            <a:ext cx="1706562" cy="470648"/>
          </a:xfrm>
        </p:spPr>
        <p:txBody>
          <a:bodyPr/>
          <a:lstStyle/>
          <a:p>
            <a:r>
              <a:rPr lang="zh-CN" altLang="en-US" sz="2800" dirty="0">
                <a:latin typeface="阿里妈妈数黑体" pitchFamily="2" charset="-122"/>
                <a:ea typeface="阿里妈妈数黑体" pitchFamily="2" charset="-122"/>
              </a:rPr>
              <a:t>实验总结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BDACA1-E901-76F4-DBB5-3AE81865A7DA}"/>
              </a:ext>
            </a:extLst>
          </p:cNvPr>
          <p:cNvSpPr/>
          <p:nvPr/>
        </p:nvSpPr>
        <p:spPr>
          <a:xfrm>
            <a:off x="1673594" y="1463081"/>
            <a:ext cx="8844812" cy="4613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知识收获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深刻理解了内核态与用户态的差异与协作。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掌握了系统调用、进程创建、进程间通信（管道）、文件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重定向等核心机制。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学会了模块化、安全性和可维护性的工程设计原则。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能力提升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工程实践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：从内核编译、代码调试到功能测试，全流程实战能力。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问题解决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：面对内核崩溃、管道阻塞、内存泄漏等难题，提升了分析与解决能力。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工具运用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：熟练使用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valgrind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dmesg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等开发与调试工具。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未来展望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将本次实验的经验应用于更复杂的系统软件开发。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进一步探索内核同步、文件系统、网络协议栈等高级主题。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5409AC-60EE-FD4D-3A74-52974CC762DD}"/>
              </a:ext>
            </a:extLst>
          </p:cNvPr>
          <p:cNvSpPr/>
          <p:nvPr/>
        </p:nvSpPr>
        <p:spPr>
          <a:xfrm>
            <a:off x="834614" y="1035501"/>
            <a:ext cx="54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690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>
            <a:spLocks/>
          </p:cNvSpPr>
          <p:nvPr/>
        </p:nvSpPr>
        <p:spPr>
          <a:xfrm>
            <a:off x="2603498" y="2049938"/>
            <a:ext cx="6808927" cy="11257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6400" b="1" dirty="0">
                <a:solidFill>
                  <a:srgbClr val="15BD80"/>
                </a:solidFill>
                <a:latin typeface="阿里妈妈数黑体" pitchFamily="2" charset="-122"/>
                <a:ea typeface="阿里妈妈数黑体" pitchFamily="2" charset="-122"/>
              </a:rPr>
              <a:t>THANK YOU</a:t>
            </a:r>
            <a:endParaRPr lang="zh-CN" altLang="en-US" sz="6400" b="1" dirty="0">
              <a:solidFill>
                <a:srgbClr val="15BD80"/>
              </a:solidFill>
              <a:latin typeface="阿里妈妈数黑体" pitchFamily="2" charset="-122"/>
              <a:ea typeface="阿里妈妈数黑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67961" y="3175676"/>
            <a:ext cx="108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71E2511C-9A9F-B6C5-089D-D3067035C669}"/>
              </a:ext>
            </a:extLst>
          </p:cNvPr>
          <p:cNvSpPr txBox="1">
            <a:spLocks/>
          </p:cNvSpPr>
          <p:nvPr/>
        </p:nvSpPr>
        <p:spPr>
          <a:xfrm>
            <a:off x="1263480" y="3515274"/>
            <a:ext cx="9500463" cy="994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tx1"/>
                </a:solidFill>
                <a:latin typeface="阿里妈妈数黑体" pitchFamily="2" charset="-122"/>
                <a:ea typeface="阿里妈妈数黑体" pitchFamily="2" charset="-122"/>
              </a:rPr>
              <a:t>71123329   </a:t>
            </a:r>
            <a:r>
              <a:rPr lang="zh-CN" altLang="en-US" sz="2400" dirty="0">
                <a:solidFill>
                  <a:schemeClr val="tx1"/>
                </a:solidFill>
                <a:latin typeface="阿里妈妈数黑体" pitchFamily="2" charset="-122"/>
                <a:ea typeface="阿里妈妈数黑体" pitchFamily="2" charset="-122"/>
              </a:rPr>
              <a:t>段嘉文</a:t>
            </a:r>
            <a:endParaRPr lang="en-US" altLang="zh-CN" sz="2400" dirty="0">
              <a:solidFill>
                <a:schemeClr val="tx1"/>
              </a:solidFill>
              <a:latin typeface="阿里妈妈数黑体" pitchFamily="2" charset="-122"/>
              <a:ea typeface="阿里妈妈数黑体" pitchFamily="2" charset="-122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阿里妈妈数黑体" pitchFamily="2" charset="-122"/>
                <a:ea typeface="阿里妈妈数黑体" pitchFamily="2" charset="-122"/>
              </a:rPr>
              <a:t>（详细内容可参考：</a:t>
            </a:r>
            <a:r>
              <a:rPr lang="en-US" altLang="zh-CN" sz="2400" dirty="0">
                <a:solidFill>
                  <a:schemeClr val="tx1"/>
                </a:solidFill>
                <a:latin typeface="阿里妈妈数黑体" pitchFamily="2" charset="-122"/>
                <a:ea typeface="阿里妈妈数黑体" pitchFamily="2" charset="-122"/>
              </a:rPr>
              <a:t>https://github.com/victor-luyunning/os_lab</a:t>
            </a:r>
            <a:r>
              <a:rPr lang="zh-CN" altLang="en-US" sz="2400" dirty="0">
                <a:solidFill>
                  <a:schemeClr val="tx1"/>
                </a:solidFill>
                <a:latin typeface="阿里妈妈数黑体" pitchFamily="2" charset="-122"/>
                <a:ea typeface="阿里妈妈数黑体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1814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895</Words>
  <Application>Microsoft Office PowerPoint</Application>
  <PresentationFormat>宽屏</PresentationFormat>
  <Paragraphs>87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阿里妈妈数黑体</vt:lpstr>
      <vt:lpstr>微软雅黑</vt:lpstr>
      <vt:lpstr>微软雅黑 Light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吴善俊</dc:creator>
  <cp:lastModifiedBy>嘉文 段</cp:lastModifiedBy>
  <cp:revision>38</cp:revision>
  <dcterms:created xsi:type="dcterms:W3CDTF">2016-05-18T12:32:27Z</dcterms:created>
  <dcterms:modified xsi:type="dcterms:W3CDTF">2025-12-24T04:15:27Z</dcterms:modified>
</cp:coreProperties>
</file>